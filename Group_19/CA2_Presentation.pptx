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Aptos" charset="1" panose="020B0004020202020204"/>
      <p:regular r:id="rId13"/>
    </p:embeddedFont>
    <p:embeddedFont>
      <p:font typeface="Canva Sans Bold Italics" charset="1" panose="020B0803030501040103"/>
      <p:regular r:id="rId14"/>
    </p:embeddedFont>
    <p:embeddedFont>
      <p:font typeface="Arimo Bold" charset="1" panose="020B0704020202020204"/>
      <p:regular r:id="rId15"/>
    </p:embeddedFont>
    <p:embeddedFont>
      <p:font typeface="Canva Sans Bold" charset="1" panose="020B0803030501040103"/>
      <p:regular r:id="rId16"/>
    </p:embeddedFont>
    <p:embeddedFont>
      <p:font typeface="Playpen Sans Bold" charset="1" panose="00000000000000000000"/>
      <p:regular r:id="rId17"/>
    </p:embeddedFont>
    <p:embeddedFont>
      <p:font typeface="Playpen Sans" charset="1" panose="00000000000000000000"/>
      <p:regular r:id="rId18"/>
    </p:embeddedFont>
    <p:embeddedFont>
      <p:font typeface="Gagalin" charset="1" panose="00000500000000000000"/>
      <p:regular r:id="rId19"/>
    </p:embeddedFont>
    <p:embeddedFont>
      <p:font typeface="HK Grotes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8935" y="2449325"/>
            <a:ext cx="84040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evOps-CA2 Assignment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1329" y="3109941"/>
            <a:ext cx="172593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Medi</a:t>
            </a: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Twin AI — End-to-End DevOps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91529" y="8486775"/>
            <a:ext cx="385890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Under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Arijit Dutta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77763" y="6610350"/>
            <a:ext cx="413247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Adarsh Jha</a:t>
            </a:r>
            <a:r>
              <a:rPr lang="en-US" sz="22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–  23070122261</a:t>
            </a:r>
          </a:p>
          <a:p>
            <a:pPr algn="ctr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Jyoti Kumari Sah- 23070122278</a:t>
            </a:r>
          </a:p>
          <a:p>
            <a:pPr algn="ctr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Muskan Shah   –   23070122279</a:t>
            </a:r>
          </a:p>
          <a:p>
            <a:pPr algn="ctr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Prabin Yadav    –  23070122280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5082" y="5835967"/>
            <a:ext cx="49696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Group Number: Group – 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20640" y="9692535"/>
            <a:ext cx="871074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Department of Computer Science &amp; Engineering | Academic Year 2025–26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37600" y="194434"/>
            <a:ext cx="10812799" cy="1773936"/>
            <a:chOff x="0" y="0"/>
            <a:chExt cx="14417065" cy="23652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417039" cy="2365248"/>
            </a:xfrm>
            <a:custGeom>
              <a:avLst/>
              <a:gdLst/>
              <a:ahLst/>
              <a:cxnLst/>
              <a:rect r="r" b="b" t="t" l="l"/>
              <a:pathLst>
                <a:path h="2365248" w="14417039">
                  <a:moveTo>
                    <a:pt x="0" y="0"/>
                  </a:moveTo>
                  <a:lnTo>
                    <a:pt x="14417039" y="0"/>
                  </a:lnTo>
                  <a:lnTo>
                    <a:pt x="14417039" y="2365248"/>
                  </a:lnTo>
                  <a:lnTo>
                    <a:pt x="0" y="236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745528" y="4993958"/>
            <a:ext cx="10796944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CI/CD</a:t>
            </a:r>
            <a:r>
              <a:rPr lang="en-US" b="true" sz="21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• Configuration Management • Containerization • Kubernetes •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67" y="1489171"/>
            <a:ext cx="17954867" cy="10458710"/>
          </a:xfrm>
          <a:custGeom>
            <a:avLst/>
            <a:gdLst/>
            <a:ahLst/>
            <a:cxnLst/>
            <a:rect r="r" b="b" t="t" l="l"/>
            <a:pathLst>
              <a:path h="10458710" w="17954867">
                <a:moveTo>
                  <a:pt x="0" y="0"/>
                </a:moveTo>
                <a:lnTo>
                  <a:pt x="17954866" y="0"/>
                </a:lnTo>
                <a:lnTo>
                  <a:pt x="17954866" y="10458710"/>
                </a:lnTo>
                <a:lnTo>
                  <a:pt x="0" y="10458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3575" y="142875"/>
            <a:ext cx="17644425" cy="137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Sys</a:t>
            </a: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622" y="1443651"/>
            <a:ext cx="18499243" cy="7399697"/>
          </a:xfrm>
          <a:custGeom>
            <a:avLst/>
            <a:gdLst/>
            <a:ahLst/>
            <a:cxnLst/>
            <a:rect r="r" b="b" t="t" l="l"/>
            <a:pathLst>
              <a:path h="7399697" w="18499243">
                <a:moveTo>
                  <a:pt x="0" y="0"/>
                </a:moveTo>
                <a:lnTo>
                  <a:pt x="18499244" y="0"/>
                </a:lnTo>
                <a:lnTo>
                  <a:pt x="18499244" y="7399698"/>
                </a:lnTo>
                <a:lnTo>
                  <a:pt x="0" y="739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1788" y="256269"/>
            <a:ext cx="17644425" cy="137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ipeline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901700"/>
            <a:ext cx="18288000" cy="10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validation → containerization → configuration → deployment → release → monitoring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949" y="1827560"/>
            <a:ext cx="10228451" cy="1535970"/>
          </a:xfrm>
          <a:custGeom>
            <a:avLst/>
            <a:gdLst/>
            <a:ahLst/>
            <a:cxnLst/>
            <a:rect r="r" b="b" t="t" l="l"/>
            <a:pathLst>
              <a:path h="1535970" w="10228451">
                <a:moveTo>
                  <a:pt x="0" y="0"/>
                </a:moveTo>
                <a:lnTo>
                  <a:pt x="10228451" y="0"/>
                </a:lnTo>
                <a:lnTo>
                  <a:pt x="10228451" y="1535970"/>
                </a:lnTo>
                <a:lnTo>
                  <a:pt x="0" y="153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032" t="-317082" r="-3887" b="-344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5801" y="6850665"/>
            <a:ext cx="7484196" cy="2779274"/>
          </a:xfrm>
          <a:custGeom>
            <a:avLst/>
            <a:gdLst/>
            <a:ahLst/>
            <a:cxnLst/>
            <a:rect r="r" b="b" t="t" l="l"/>
            <a:pathLst>
              <a:path h="2779274" w="7484196">
                <a:moveTo>
                  <a:pt x="0" y="0"/>
                </a:moveTo>
                <a:lnTo>
                  <a:pt x="7484196" y="0"/>
                </a:lnTo>
                <a:lnTo>
                  <a:pt x="7484196" y="2779274"/>
                </a:lnTo>
                <a:lnTo>
                  <a:pt x="0" y="2779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8256" r="-341817" b="-40256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02" y="3941855"/>
            <a:ext cx="10271998" cy="5688084"/>
          </a:xfrm>
          <a:custGeom>
            <a:avLst/>
            <a:gdLst/>
            <a:ahLst/>
            <a:cxnLst/>
            <a:rect r="r" b="b" t="t" l="l"/>
            <a:pathLst>
              <a:path h="5688084" w="10271998">
                <a:moveTo>
                  <a:pt x="0" y="0"/>
                </a:moveTo>
                <a:lnTo>
                  <a:pt x="10271998" y="0"/>
                </a:lnTo>
                <a:lnTo>
                  <a:pt x="10271998" y="5688084"/>
                </a:lnTo>
                <a:lnTo>
                  <a:pt x="0" y="5688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1628" b="-18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65801" y="1827560"/>
            <a:ext cx="7484196" cy="4334715"/>
          </a:xfrm>
          <a:custGeom>
            <a:avLst/>
            <a:gdLst/>
            <a:ahLst/>
            <a:cxnLst/>
            <a:rect r="r" b="b" t="t" l="l"/>
            <a:pathLst>
              <a:path h="4334715" w="7484196">
                <a:moveTo>
                  <a:pt x="0" y="0"/>
                </a:moveTo>
                <a:lnTo>
                  <a:pt x="7484196" y="0"/>
                </a:lnTo>
                <a:lnTo>
                  <a:pt x="7484196" y="4334715"/>
                </a:lnTo>
                <a:lnTo>
                  <a:pt x="0" y="4334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334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1788" y="233363"/>
            <a:ext cx="17644425" cy="137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Deployment &amp; Configuration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6491" y="3334955"/>
            <a:ext cx="504063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1 — Dockerized MediTwin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812" y="9744239"/>
            <a:ext cx="9043988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2 — Kubernetes Deployment, Rolling Update &amp; Rollout Verification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43035" y="9725189"/>
            <a:ext cx="5296138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4 — GitHub Actions CI/CD Execution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5801" y="6263900"/>
            <a:ext cx="7300412" cy="49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3 — Ansible Runtime Configuration &amp; Environment Validation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0496" y="630479"/>
            <a:ext cx="9648854" cy="5894152"/>
          </a:xfrm>
          <a:custGeom>
            <a:avLst/>
            <a:gdLst/>
            <a:ahLst/>
            <a:cxnLst/>
            <a:rect r="r" b="b" t="t" l="l"/>
            <a:pathLst>
              <a:path h="5894152" w="9648854">
                <a:moveTo>
                  <a:pt x="0" y="0"/>
                </a:moveTo>
                <a:lnTo>
                  <a:pt x="9648854" y="0"/>
                </a:lnTo>
                <a:lnTo>
                  <a:pt x="9648854" y="5894151"/>
                </a:lnTo>
                <a:lnTo>
                  <a:pt x="0" y="5894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81602" y="7037707"/>
            <a:ext cx="12045587" cy="2624914"/>
          </a:xfrm>
          <a:custGeom>
            <a:avLst/>
            <a:gdLst/>
            <a:ahLst/>
            <a:cxnLst/>
            <a:rect r="r" b="b" t="t" l="l"/>
            <a:pathLst>
              <a:path h="2624914" w="12045587">
                <a:moveTo>
                  <a:pt x="0" y="0"/>
                </a:moveTo>
                <a:lnTo>
                  <a:pt x="12045587" y="0"/>
                </a:lnTo>
                <a:lnTo>
                  <a:pt x="12045587" y="2624914"/>
                </a:lnTo>
                <a:lnTo>
                  <a:pt x="0" y="2624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754" r="0" b="-1119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1788" y="49993"/>
            <a:ext cx="8156547" cy="265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Monitoring &amp; Observability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7653" y="6574158"/>
            <a:ext cx="782324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5 — MediTwin DevOps Monitoring Dashboard in Grafana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37308" y="9691196"/>
            <a:ext cx="1022199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 6 — MediTwin backend successfully discovered and scraped by Prometheus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-4550156" y="4903871"/>
            <a:ext cx="10916358" cy="10766258"/>
          </a:xfrm>
          <a:custGeom>
            <a:avLst/>
            <a:gdLst/>
            <a:ahLst/>
            <a:cxnLst/>
            <a:rect r="r" b="b" t="t" l="l"/>
            <a:pathLst>
              <a:path h="10766258" w="10916358">
                <a:moveTo>
                  <a:pt x="0" y="0"/>
                </a:moveTo>
                <a:lnTo>
                  <a:pt x="10916358" y="0"/>
                </a:lnTo>
                <a:lnTo>
                  <a:pt x="10916358" y="10766258"/>
                </a:lnTo>
                <a:lnTo>
                  <a:pt x="0" y="10766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09550" y="3250001"/>
            <a:ext cx="7914753" cy="3544819"/>
            <a:chOff x="0" y="0"/>
            <a:chExt cx="2084544" cy="933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4544" cy="933615"/>
            </a:xfrm>
            <a:custGeom>
              <a:avLst/>
              <a:gdLst/>
              <a:ahLst/>
              <a:cxnLst/>
              <a:rect r="r" b="b" t="t" l="l"/>
              <a:pathLst>
                <a:path h="933615" w="2084544">
                  <a:moveTo>
                    <a:pt x="49886" y="0"/>
                  </a:moveTo>
                  <a:lnTo>
                    <a:pt x="2034658" y="0"/>
                  </a:lnTo>
                  <a:cubicBezTo>
                    <a:pt x="2047888" y="0"/>
                    <a:pt x="2060577" y="5256"/>
                    <a:pt x="2069933" y="14611"/>
                  </a:cubicBezTo>
                  <a:cubicBezTo>
                    <a:pt x="2079288" y="23967"/>
                    <a:pt x="2084544" y="36656"/>
                    <a:pt x="2084544" y="49886"/>
                  </a:cubicBezTo>
                  <a:lnTo>
                    <a:pt x="2084544" y="883729"/>
                  </a:lnTo>
                  <a:cubicBezTo>
                    <a:pt x="2084544" y="896959"/>
                    <a:pt x="2079288" y="909648"/>
                    <a:pt x="2069933" y="919003"/>
                  </a:cubicBezTo>
                  <a:cubicBezTo>
                    <a:pt x="2060577" y="928359"/>
                    <a:pt x="2047888" y="933615"/>
                    <a:pt x="2034658" y="933615"/>
                  </a:cubicBezTo>
                  <a:lnTo>
                    <a:pt x="49886" y="933615"/>
                  </a:lnTo>
                  <a:cubicBezTo>
                    <a:pt x="36656" y="933615"/>
                    <a:pt x="23967" y="928359"/>
                    <a:pt x="14611" y="919003"/>
                  </a:cubicBezTo>
                  <a:cubicBezTo>
                    <a:pt x="5256" y="909648"/>
                    <a:pt x="0" y="896959"/>
                    <a:pt x="0" y="883729"/>
                  </a:cubicBezTo>
                  <a:lnTo>
                    <a:pt x="0" y="49886"/>
                  </a:lnTo>
                  <a:cubicBezTo>
                    <a:pt x="0" y="36656"/>
                    <a:pt x="5256" y="23967"/>
                    <a:pt x="14611" y="14611"/>
                  </a:cubicBezTo>
                  <a:cubicBezTo>
                    <a:pt x="23967" y="5256"/>
                    <a:pt x="36656" y="0"/>
                    <a:pt x="49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55000"/>
                  </a:srgbClr>
                </a:gs>
                <a:gs pos="100000">
                  <a:srgbClr val="FFFFFF">
                    <a:alpha val="55000"/>
                  </a:srgbClr>
                </a:gs>
              </a:gsLst>
              <a:lin ang="0"/>
            </a:gradFill>
            <a:ln w="57150" cap="rnd">
              <a:solidFill>
                <a:srgbClr val="004AAD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84544" cy="99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44441" y="3826901"/>
            <a:ext cx="537564" cy="543493"/>
          </a:xfrm>
          <a:custGeom>
            <a:avLst/>
            <a:gdLst/>
            <a:ahLst/>
            <a:cxnLst/>
            <a:rect r="r" b="b" t="t" l="l"/>
            <a:pathLst>
              <a:path h="543493" w="537564">
                <a:moveTo>
                  <a:pt x="0" y="0"/>
                </a:moveTo>
                <a:lnTo>
                  <a:pt x="537564" y="0"/>
                </a:lnTo>
                <a:lnTo>
                  <a:pt x="537564" y="543493"/>
                </a:lnTo>
                <a:lnTo>
                  <a:pt x="0" y="543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5641" y="4533154"/>
            <a:ext cx="537564" cy="543493"/>
          </a:xfrm>
          <a:custGeom>
            <a:avLst/>
            <a:gdLst/>
            <a:ahLst/>
            <a:cxnLst/>
            <a:rect r="r" b="b" t="t" l="l"/>
            <a:pathLst>
              <a:path h="543493" w="537564">
                <a:moveTo>
                  <a:pt x="0" y="0"/>
                </a:moveTo>
                <a:lnTo>
                  <a:pt x="537565" y="0"/>
                </a:lnTo>
                <a:lnTo>
                  <a:pt x="537565" y="543494"/>
                </a:lnTo>
                <a:lnTo>
                  <a:pt x="0" y="543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3465" y="5266624"/>
            <a:ext cx="537564" cy="543493"/>
          </a:xfrm>
          <a:custGeom>
            <a:avLst/>
            <a:gdLst/>
            <a:ahLst/>
            <a:cxnLst/>
            <a:rect r="r" b="b" t="t" l="l"/>
            <a:pathLst>
              <a:path h="543493" w="537564">
                <a:moveTo>
                  <a:pt x="0" y="0"/>
                </a:moveTo>
                <a:lnTo>
                  <a:pt x="537564" y="0"/>
                </a:lnTo>
                <a:lnTo>
                  <a:pt x="537564" y="543494"/>
                </a:lnTo>
                <a:lnTo>
                  <a:pt x="0" y="543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3465" y="6052039"/>
            <a:ext cx="537564" cy="543493"/>
          </a:xfrm>
          <a:custGeom>
            <a:avLst/>
            <a:gdLst/>
            <a:ahLst/>
            <a:cxnLst/>
            <a:rect r="r" b="b" t="t" l="l"/>
            <a:pathLst>
              <a:path h="543493" w="537564">
                <a:moveTo>
                  <a:pt x="0" y="0"/>
                </a:moveTo>
                <a:lnTo>
                  <a:pt x="537564" y="0"/>
                </a:lnTo>
                <a:lnTo>
                  <a:pt x="537564" y="543493"/>
                </a:lnTo>
                <a:lnTo>
                  <a:pt x="0" y="543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11231" y="3817376"/>
            <a:ext cx="6613072" cy="39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401" b="true">
                <a:solidFill>
                  <a:srgbClr val="1C0E0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Availability </a:t>
            </a:r>
            <a:r>
              <a:rPr lang="en-US" sz="2401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— detect service downtime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1231" y="4495555"/>
            <a:ext cx="6613072" cy="39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401" b="true">
                <a:solidFill>
                  <a:srgbClr val="1C0E0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Performance </a:t>
            </a:r>
            <a:r>
              <a:rPr lang="en-US" sz="2401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— track latency and traffic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4001" y="6156132"/>
            <a:ext cx="6613072" cy="39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401" b="true">
                <a:solidFill>
                  <a:srgbClr val="1C0E0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Reliability </a:t>
            </a:r>
            <a:r>
              <a:rPr lang="en-US" sz="2401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— identify HTTP errors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4001" y="5173700"/>
            <a:ext cx="6739081" cy="162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401" b="true">
                <a:solidFill>
                  <a:srgbClr val="1C0E0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Runtime Health</a:t>
            </a:r>
            <a:r>
              <a:rPr lang="en-US" sz="2401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 — observe memory and event-loop behavior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724251" y="2893205"/>
            <a:ext cx="4885351" cy="713593"/>
            <a:chOff x="0" y="0"/>
            <a:chExt cx="1286677" cy="1879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6677" cy="187942"/>
            </a:xfrm>
            <a:custGeom>
              <a:avLst/>
              <a:gdLst/>
              <a:ahLst/>
              <a:cxnLst/>
              <a:rect r="r" b="b" t="t" l="l"/>
              <a:pathLst>
                <a:path h="187942" w="1286677">
                  <a:moveTo>
                    <a:pt x="79236" y="0"/>
                  </a:moveTo>
                  <a:lnTo>
                    <a:pt x="1207441" y="0"/>
                  </a:lnTo>
                  <a:cubicBezTo>
                    <a:pt x="1228456" y="0"/>
                    <a:pt x="1248610" y="8348"/>
                    <a:pt x="1263469" y="23208"/>
                  </a:cubicBezTo>
                  <a:cubicBezTo>
                    <a:pt x="1278329" y="38067"/>
                    <a:pt x="1286677" y="58221"/>
                    <a:pt x="1286677" y="79236"/>
                  </a:cubicBezTo>
                  <a:lnTo>
                    <a:pt x="1286677" y="108706"/>
                  </a:lnTo>
                  <a:cubicBezTo>
                    <a:pt x="1286677" y="129721"/>
                    <a:pt x="1278329" y="149875"/>
                    <a:pt x="1263469" y="164734"/>
                  </a:cubicBezTo>
                  <a:cubicBezTo>
                    <a:pt x="1248610" y="179594"/>
                    <a:pt x="1228456" y="187942"/>
                    <a:pt x="1207441" y="187942"/>
                  </a:cubicBezTo>
                  <a:lnTo>
                    <a:pt x="79236" y="187942"/>
                  </a:lnTo>
                  <a:cubicBezTo>
                    <a:pt x="35475" y="187942"/>
                    <a:pt x="0" y="152467"/>
                    <a:pt x="0" y="108706"/>
                  </a:cubicBezTo>
                  <a:lnTo>
                    <a:pt x="0" y="79236"/>
                  </a:lnTo>
                  <a:cubicBezTo>
                    <a:pt x="0" y="58221"/>
                    <a:pt x="8348" y="38067"/>
                    <a:pt x="23208" y="23208"/>
                  </a:cubicBezTo>
                  <a:cubicBezTo>
                    <a:pt x="38067" y="8348"/>
                    <a:pt x="58221" y="0"/>
                    <a:pt x="792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B85B56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286677" cy="25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87669" y="2901701"/>
            <a:ext cx="3358515" cy="62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1800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Why Monitor?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3656" y="7042470"/>
            <a:ext cx="4273847" cy="145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  <a:spcBef>
                <a:spcPct val="0"/>
              </a:spcBef>
            </a:pPr>
            <a:r>
              <a:rPr lang="en-US" sz="4209">
                <a:solidFill>
                  <a:srgbClr val="004AAD"/>
                </a:solidFill>
                <a:latin typeface="Gagalin"/>
                <a:ea typeface="Gagalin"/>
                <a:cs typeface="Gagalin"/>
                <a:sym typeface="Gagalin"/>
              </a:rPr>
              <a:t>Prometheus +</a:t>
            </a:r>
            <a:r>
              <a:rPr lang="en-US" sz="4209">
                <a:solidFill>
                  <a:srgbClr val="004AAD"/>
                </a:solidFill>
                <a:latin typeface="Gagalin"/>
                <a:ea typeface="Gagalin"/>
                <a:cs typeface="Gagalin"/>
                <a:sym typeface="Gagalin"/>
              </a:rPr>
              <a:t> Grafana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3915" y="8697674"/>
            <a:ext cx="5519627" cy="10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B85B5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b="true" sz="3200">
                <a:solidFill>
                  <a:srgbClr val="B85B5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→ ServiceMonitor → Prometheus → Grafana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1788" y="1595437"/>
            <a:ext cx="9591138" cy="4510430"/>
            <a:chOff x="0" y="0"/>
            <a:chExt cx="2526061" cy="11879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6061" cy="1187932"/>
            </a:xfrm>
            <a:custGeom>
              <a:avLst/>
              <a:gdLst/>
              <a:ahLst/>
              <a:cxnLst/>
              <a:rect r="r" b="b" t="t" l="l"/>
              <a:pathLst>
                <a:path h="1187932" w="2526061">
                  <a:moveTo>
                    <a:pt x="41167" y="0"/>
                  </a:moveTo>
                  <a:lnTo>
                    <a:pt x="2484894" y="0"/>
                  </a:lnTo>
                  <a:cubicBezTo>
                    <a:pt x="2507630" y="0"/>
                    <a:pt x="2526061" y="18431"/>
                    <a:pt x="2526061" y="41167"/>
                  </a:cubicBezTo>
                  <a:lnTo>
                    <a:pt x="2526061" y="1146765"/>
                  </a:lnTo>
                  <a:cubicBezTo>
                    <a:pt x="2526061" y="1157683"/>
                    <a:pt x="2521724" y="1168154"/>
                    <a:pt x="2514004" y="1175875"/>
                  </a:cubicBezTo>
                  <a:cubicBezTo>
                    <a:pt x="2506283" y="1183595"/>
                    <a:pt x="2495812" y="1187932"/>
                    <a:pt x="2484894" y="1187932"/>
                  </a:cubicBezTo>
                  <a:lnTo>
                    <a:pt x="41167" y="1187932"/>
                  </a:lnTo>
                  <a:cubicBezTo>
                    <a:pt x="18431" y="1187932"/>
                    <a:pt x="0" y="1169501"/>
                    <a:pt x="0" y="1146765"/>
                  </a:cubicBezTo>
                  <a:lnTo>
                    <a:pt x="0" y="41167"/>
                  </a:lnTo>
                  <a:cubicBezTo>
                    <a:pt x="0" y="18431"/>
                    <a:pt x="18431" y="0"/>
                    <a:pt x="411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55000"/>
                  </a:srgbClr>
                </a:gs>
                <a:gs pos="100000">
                  <a:srgbClr val="FFFFFF">
                    <a:alpha val="55000"/>
                  </a:srgbClr>
                </a:gs>
              </a:gsLst>
              <a:lin ang="0"/>
            </a:gradFill>
            <a:ln w="57150" cap="rnd">
              <a:solidFill>
                <a:srgbClr val="004AAD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26061" cy="124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1445" y="1952074"/>
            <a:ext cx="931623" cy="870884"/>
          </a:xfrm>
          <a:custGeom>
            <a:avLst/>
            <a:gdLst/>
            <a:ahLst/>
            <a:cxnLst/>
            <a:rect r="r" b="b" t="t" l="l"/>
            <a:pathLst>
              <a:path h="870884" w="931623">
                <a:moveTo>
                  <a:pt x="0" y="0"/>
                </a:moveTo>
                <a:lnTo>
                  <a:pt x="931624" y="0"/>
                </a:lnTo>
                <a:lnTo>
                  <a:pt x="931624" y="870884"/>
                </a:lnTo>
                <a:lnTo>
                  <a:pt x="0" y="870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13" t="0" r="-311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1445" y="3257637"/>
            <a:ext cx="931623" cy="870884"/>
          </a:xfrm>
          <a:custGeom>
            <a:avLst/>
            <a:gdLst/>
            <a:ahLst/>
            <a:cxnLst/>
            <a:rect r="r" b="b" t="t" l="l"/>
            <a:pathLst>
              <a:path h="870884" w="931623">
                <a:moveTo>
                  <a:pt x="0" y="0"/>
                </a:moveTo>
                <a:lnTo>
                  <a:pt x="931624" y="0"/>
                </a:lnTo>
                <a:lnTo>
                  <a:pt x="931624" y="870885"/>
                </a:lnTo>
                <a:lnTo>
                  <a:pt x="0" y="87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13" t="0" r="-311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45" y="4566672"/>
            <a:ext cx="931623" cy="870884"/>
          </a:xfrm>
          <a:custGeom>
            <a:avLst/>
            <a:gdLst/>
            <a:ahLst/>
            <a:cxnLst/>
            <a:rect r="r" b="b" t="t" l="l"/>
            <a:pathLst>
              <a:path h="870884" w="931623">
                <a:moveTo>
                  <a:pt x="0" y="0"/>
                </a:moveTo>
                <a:lnTo>
                  <a:pt x="931624" y="0"/>
                </a:lnTo>
                <a:lnTo>
                  <a:pt x="931624" y="870884"/>
                </a:lnTo>
                <a:lnTo>
                  <a:pt x="0" y="870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13" t="0" r="-311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3530" y="4492783"/>
            <a:ext cx="8088012" cy="136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Google OAuth origin_mismatch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T</a:t>
            </a: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he deployed origin initially wasn't authorized.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674681" y="5749071"/>
            <a:ext cx="4885351" cy="713593"/>
            <a:chOff x="0" y="0"/>
            <a:chExt cx="1286677" cy="1879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6677" cy="187942"/>
            </a:xfrm>
            <a:custGeom>
              <a:avLst/>
              <a:gdLst/>
              <a:ahLst/>
              <a:cxnLst/>
              <a:rect r="r" b="b" t="t" l="l"/>
              <a:pathLst>
                <a:path h="187942" w="1286677">
                  <a:moveTo>
                    <a:pt x="79236" y="0"/>
                  </a:moveTo>
                  <a:lnTo>
                    <a:pt x="1207441" y="0"/>
                  </a:lnTo>
                  <a:cubicBezTo>
                    <a:pt x="1228456" y="0"/>
                    <a:pt x="1248610" y="8348"/>
                    <a:pt x="1263469" y="23208"/>
                  </a:cubicBezTo>
                  <a:cubicBezTo>
                    <a:pt x="1278329" y="38067"/>
                    <a:pt x="1286677" y="58221"/>
                    <a:pt x="1286677" y="79236"/>
                  </a:cubicBezTo>
                  <a:lnTo>
                    <a:pt x="1286677" y="108706"/>
                  </a:lnTo>
                  <a:cubicBezTo>
                    <a:pt x="1286677" y="129721"/>
                    <a:pt x="1278329" y="149875"/>
                    <a:pt x="1263469" y="164734"/>
                  </a:cubicBezTo>
                  <a:cubicBezTo>
                    <a:pt x="1248610" y="179594"/>
                    <a:pt x="1228456" y="187942"/>
                    <a:pt x="1207441" y="187942"/>
                  </a:cubicBezTo>
                  <a:lnTo>
                    <a:pt x="79236" y="187942"/>
                  </a:lnTo>
                  <a:cubicBezTo>
                    <a:pt x="35475" y="187942"/>
                    <a:pt x="0" y="152467"/>
                    <a:pt x="0" y="108706"/>
                  </a:cubicBezTo>
                  <a:lnTo>
                    <a:pt x="0" y="79236"/>
                  </a:lnTo>
                  <a:cubicBezTo>
                    <a:pt x="0" y="58221"/>
                    <a:pt x="8348" y="38067"/>
                    <a:pt x="23208" y="23208"/>
                  </a:cubicBezTo>
                  <a:cubicBezTo>
                    <a:pt x="38067" y="8348"/>
                    <a:pt x="58221" y="0"/>
                    <a:pt x="792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B85B5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286677" cy="25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Challenges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32001" y="1604962"/>
            <a:ext cx="7983023" cy="4510430"/>
            <a:chOff x="0" y="0"/>
            <a:chExt cx="2102525" cy="1187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2525" cy="1187932"/>
            </a:xfrm>
            <a:custGeom>
              <a:avLst/>
              <a:gdLst/>
              <a:ahLst/>
              <a:cxnLst/>
              <a:rect r="r" b="b" t="t" l="l"/>
              <a:pathLst>
                <a:path h="1187932" w="2102525">
                  <a:moveTo>
                    <a:pt x="49460" y="0"/>
                  </a:moveTo>
                  <a:lnTo>
                    <a:pt x="2053065" y="0"/>
                  </a:lnTo>
                  <a:cubicBezTo>
                    <a:pt x="2080381" y="0"/>
                    <a:pt x="2102525" y="22144"/>
                    <a:pt x="2102525" y="49460"/>
                  </a:cubicBezTo>
                  <a:lnTo>
                    <a:pt x="2102525" y="1138473"/>
                  </a:lnTo>
                  <a:cubicBezTo>
                    <a:pt x="2102525" y="1151590"/>
                    <a:pt x="2097314" y="1164170"/>
                    <a:pt x="2088038" y="1173446"/>
                  </a:cubicBezTo>
                  <a:cubicBezTo>
                    <a:pt x="2078763" y="1182721"/>
                    <a:pt x="2066182" y="1187932"/>
                    <a:pt x="2053065" y="1187932"/>
                  </a:cubicBezTo>
                  <a:lnTo>
                    <a:pt x="49460" y="1187932"/>
                  </a:lnTo>
                  <a:cubicBezTo>
                    <a:pt x="36342" y="1187932"/>
                    <a:pt x="23762" y="1182721"/>
                    <a:pt x="14486" y="1173446"/>
                  </a:cubicBezTo>
                  <a:cubicBezTo>
                    <a:pt x="5211" y="1164170"/>
                    <a:pt x="0" y="1151590"/>
                    <a:pt x="0" y="1138473"/>
                  </a:cubicBezTo>
                  <a:lnTo>
                    <a:pt x="0" y="49460"/>
                  </a:lnTo>
                  <a:cubicBezTo>
                    <a:pt x="0" y="36342"/>
                    <a:pt x="5211" y="23762"/>
                    <a:pt x="14486" y="14486"/>
                  </a:cubicBezTo>
                  <a:cubicBezTo>
                    <a:pt x="23762" y="5211"/>
                    <a:pt x="36342" y="0"/>
                    <a:pt x="494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56000"/>
                  </a:srgbClr>
                </a:gs>
                <a:gs pos="100000">
                  <a:srgbClr val="FFFFFF">
                    <a:alpha val="56000"/>
                  </a:srgbClr>
                </a:gs>
              </a:gsLst>
              <a:lin ang="0"/>
            </a:gradFill>
            <a:ln w="57150" cap="rnd">
              <a:solidFill>
                <a:srgbClr val="004AAD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02525" cy="124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27815" y="2028144"/>
            <a:ext cx="6029911" cy="181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Reused layers and optimized the build approach.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314251" y="3210012"/>
            <a:ext cx="6731921" cy="181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Configured Services, probes and persistent storage.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314251" y="4502308"/>
            <a:ext cx="6731921" cy="181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Updated the client ID and authorized origin.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2090392" y="5758596"/>
            <a:ext cx="4066240" cy="713593"/>
            <a:chOff x="0" y="0"/>
            <a:chExt cx="1070944" cy="1879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0944" cy="187942"/>
            </a:xfrm>
            <a:custGeom>
              <a:avLst/>
              <a:gdLst/>
              <a:ahLst/>
              <a:cxnLst/>
              <a:rect r="r" b="b" t="t" l="l"/>
              <a:pathLst>
                <a:path h="187942" w="1070944">
                  <a:moveTo>
                    <a:pt x="93971" y="0"/>
                  </a:moveTo>
                  <a:lnTo>
                    <a:pt x="976973" y="0"/>
                  </a:lnTo>
                  <a:cubicBezTo>
                    <a:pt x="1001896" y="0"/>
                    <a:pt x="1025797" y="9900"/>
                    <a:pt x="1043420" y="27523"/>
                  </a:cubicBezTo>
                  <a:cubicBezTo>
                    <a:pt x="1061043" y="45146"/>
                    <a:pt x="1070944" y="69048"/>
                    <a:pt x="1070944" y="93971"/>
                  </a:cubicBezTo>
                  <a:lnTo>
                    <a:pt x="1070944" y="93971"/>
                  </a:lnTo>
                  <a:cubicBezTo>
                    <a:pt x="1070944" y="118894"/>
                    <a:pt x="1061043" y="142796"/>
                    <a:pt x="1043420" y="160419"/>
                  </a:cubicBezTo>
                  <a:cubicBezTo>
                    <a:pt x="1025797" y="178042"/>
                    <a:pt x="1001896" y="187942"/>
                    <a:pt x="976973" y="187942"/>
                  </a:cubicBezTo>
                  <a:lnTo>
                    <a:pt x="93971" y="187942"/>
                  </a:lnTo>
                  <a:cubicBezTo>
                    <a:pt x="69048" y="187942"/>
                    <a:pt x="45146" y="178042"/>
                    <a:pt x="27523" y="160419"/>
                  </a:cubicBezTo>
                  <a:cubicBezTo>
                    <a:pt x="9900" y="142796"/>
                    <a:pt x="0" y="118894"/>
                    <a:pt x="0" y="93971"/>
                  </a:cubicBezTo>
                  <a:lnTo>
                    <a:pt x="0" y="93971"/>
                  </a:lnTo>
                  <a:cubicBezTo>
                    <a:pt x="0" y="69048"/>
                    <a:pt x="9900" y="45146"/>
                    <a:pt x="27523" y="27523"/>
                  </a:cubicBezTo>
                  <a:cubicBezTo>
                    <a:pt x="45146" y="9900"/>
                    <a:pt x="69048" y="0"/>
                    <a:pt x="939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B85B5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70944" cy="25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Solutions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354288" y="2107052"/>
            <a:ext cx="807841" cy="892642"/>
          </a:xfrm>
          <a:custGeom>
            <a:avLst/>
            <a:gdLst/>
            <a:ahLst/>
            <a:cxnLst/>
            <a:rect r="r" b="b" t="t" l="l"/>
            <a:pathLst>
              <a:path h="892642" w="807841">
                <a:moveTo>
                  <a:pt x="0" y="0"/>
                </a:moveTo>
                <a:lnTo>
                  <a:pt x="807842" y="0"/>
                </a:lnTo>
                <a:lnTo>
                  <a:pt x="807842" y="892642"/>
                </a:lnTo>
                <a:lnTo>
                  <a:pt x="0" y="892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354288" y="3255902"/>
            <a:ext cx="807841" cy="892642"/>
          </a:xfrm>
          <a:custGeom>
            <a:avLst/>
            <a:gdLst/>
            <a:ahLst/>
            <a:cxnLst/>
            <a:rect r="r" b="b" t="t" l="l"/>
            <a:pathLst>
              <a:path h="892642" w="807841">
                <a:moveTo>
                  <a:pt x="0" y="0"/>
                </a:moveTo>
                <a:lnTo>
                  <a:pt x="807842" y="0"/>
                </a:lnTo>
                <a:lnTo>
                  <a:pt x="807842" y="892642"/>
                </a:lnTo>
                <a:lnTo>
                  <a:pt x="0" y="892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354288" y="4548197"/>
            <a:ext cx="807841" cy="892642"/>
          </a:xfrm>
          <a:custGeom>
            <a:avLst/>
            <a:gdLst/>
            <a:ahLst/>
            <a:cxnLst/>
            <a:rect r="r" b="b" t="t" l="l"/>
            <a:pathLst>
              <a:path h="892642" w="807841">
                <a:moveTo>
                  <a:pt x="0" y="0"/>
                </a:moveTo>
                <a:lnTo>
                  <a:pt x="807842" y="0"/>
                </a:lnTo>
                <a:lnTo>
                  <a:pt x="807842" y="892643"/>
                </a:lnTo>
                <a:lnTo>
                  <a:pt x="0" y="892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006126" y="7714651"/>
            <a:ext cx="1914424" cy="1081649"/>
          </a:xfrm>
          <a:custGeom>
            <a:avLst/>
            <a:gdLst/>
            <a:ahLst/>
            <a:cxnLst/>
            <a:rect r="r" b="b" t="t" l="l"/>
            <a:pathLst>
              <a:path h="1081649" w="1914424">
                <a:moveTo>
                  <a:pt x="0" y="0"/>
                </a:moveTo>
                <a:lnTo>
                  <a:pt x="1914424" y="0"/>
                </a:lnTo>
                <a:lnTo>
                  <a:pt x="1914424" y="1081649"/>
                </a:lnTo>
                <a:lnTo>
                  <a:pt x="0" y="1081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1788" y="90488"/>
            <a:ext cx="17644425" cy="137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b="true" sz="9999" spc="-399">
                <a:solidFill>
                  <a:srgbClr val="000066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Lessons Learned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3564" y="1894924"/>
            <a:ext cx="7244587" cy="132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Large ML Docker Image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PyTorch made the backend image very large.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73530" y="3200487"/>
            <a:ext cx="8088012" cy="128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Kubernetes Runtime Issues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399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tartup and readiness needed careful configuration.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-269778" y="7409931"/>
            <a:ext cx="3886617" cy="159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  <a:spcBef>
                <a:spcPct val="0"/>
              </a:spcBef>
            </a:pPr>
            <a:r>
              <a:rPr lang="en-US" sz="4562">
                <a:solidFill>
                  <a:srgbClr val="004AAD"/>
                </a:solidFill>
                <a:latin typeface="Gagalin"/>
                <a:ea typeface="Gagalin"/>
                <a:cs typeface="Gagalin"/>
                <a:sym typeface="Gagalin"/>
              </a:rPr>
              <a:t>Less</a:t>
            </a:r>
            <a:r>
              <a:rPr lang="en-US" sz="4562">
                <a:solidFill>
                  <a:srgbClr val="004AAD"/>
                </a:solidFill>
                <a:latin typeface="Gagalin"/>
                <a:ea typeface="Gagalin"/>
                <a:cs typeface="Gagalin"/>
                <a:sym typeface="Gagalin"/>
              </a:rPr>
              <a:t>ons Learned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190371" y="7055792"/>
            <a:ext cx="567408" cy="573666"/>
          </a:xfrm>
          <a:custGeom>
            <a:avLst/>
            <a:gdLst/>
            <a:ahLst/>
            <a:cxnLst/>
            <a:rect r="r" b="b" t="t" l="l"/>
            <a:pathLst>
              <a:path h="573666" w="567408">
                <a:moveTo>
                  <a:pt x="0" y="0"/>
                </a:moveTo>
                <a:lnTo>
                  <a:pt x="567407" y="0"/>
                </a:lnTo>
                <a:lnTo>
                  <a:pt x="567407" y="573666"/>
                </a:lnTo>
                <a:lnTo>
                  <a:pt x="0" y="573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181083" y="7772333"/>
            <a:ext cx="567408" cy="573666"/>
          </a:xfrm>
          <a:custGeom>
            <a:avLst/>
            <a:gdLst/>
            <a:ahLst/>
            <a:cxnLst/>
            <a:rect r="r" b="b" t="t" l="l"/>
            <a:pathLst>
              <a:path h="573666" w="567408">
                <a:moveTo>
                  <a:pt x="0" y="0"/>
                </a:moveTo>
                <a:lnTo>
                  <a:pt x="567407" y="0"/>
                </a:lnTo>
                <a:lnTo>
                  <a:pt x="567407" y="573666"/>
                </a:lnTo>
                <a:lnTo>
                  <a:pt x="0" y="573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190371" y="8542284"/>
            <a:ext cx="567408" cy="573666"/>
          </a:xfrm>
          <a:custGeom>
            <a:avLst/>
            <a:gdLst/>
            <a:ahLst/>
            <a:cxnLst/>
            <a:rect r="r" b="b" t="t" l="l"/>
            <a:pathLst>
              <a:path h="573666" w="567408">
                <a:moveTo>
                  <a:pt x="0" y="0"/>
                </a:moveTo>
                <a:lnTo>
                  <a:pt x="567407" y="0"/>
                </a:lnTo>
                <a:lnTo>
                  <a:pt x="567407" y="573666"/>
                </a:lnTo>
                <a:lnTo>
                  <a:pt x="0" y="573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077316" y="6979592"/>
            <a:ext cx="11494628" cy="87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535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Dockerized services make deployment consistent across environments.</a:t>
            </a:r>
          </a:p>
          <a:p>
            <a:pPr algn="l">
              <a:lnSpc>
                <a:spcPts val="354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6024478" y="7724708"/>
            <a:ext cx="11904191" cy="87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535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Ansible reduces manual runtime setup and supports idempotent execution.</a:t>
            </a:r>
          </a:p>
          <a:p>
            <a:pPr algn="l">
              <a:lnSpc>
                <a:spcPts val="354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077316" y="8447034"/>
            <a:ext cx="11888896" cy="87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Kubernetes manages services, replicas, storage, health and deployment state.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5190371" y="9503053"/>
            <a:ext cx="567408" cy="573666"/>
          </a:xfrm>
          <a:custGeom>
            <a:avLst/>
            <a:gdLst/>
            <a:ahLst/>
            <a:cxnLst/>
            <a:rect r="r" b="b" t="t" l="l"/>
            <a:pathLst>
              <a:path h="573666" w="567408">
                <a:moveTo>
                  <a:pt x="0" y="0"/>
                </a:moveTo>
                <a:lnTo>
                  <a:pt x="567407" y="0"/>
                </a:lnTo>
                <a:lnTo>
                  <a:pt x="567407" y="573666"/>
                </a:lnTo>
                <a:lnTo>
                  <a:pt x="0" y="573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998260" y="9436378"/>
            <a:ext cx="12344632" cy="84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1C0E04"/>
                </a:solidFill>
                <a:latin typeface="Playpen Sans"/>
                <a:ea typeface="Playpen Sans"/>
                <a:cs typeface="Playpen Sans"/>
                <a:sym typeface="Playpen Sans"/>
              </a:rPr>
              <a:t>Application-level metrics are essential for understanding real system behaviour.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</a:p>
        </p:txBody>
      </p:sp>
      <p:sp>
        <p:nvSpPr>
          <p:cNvPr name="Freeform 38" id="38"/>
          <p:cNvSpPr/>
          <p:nvPr/>
        </p:nvSpPr>
        <p:spPr>
          <a:xfrm flipH="false" flipV="false" rot="-5400000">
            <a:off x="-5367233" y="6219018"/>
            <a:ext cx="10916358" cy="10766258"/>
          </a:xfrm>
          <a:custGeom>
            <a:avLst/>
            <a:gdLst/>
            <a:ahLst/>
            <a:cxnLst/>
            <a:rect r="r" b="b" t="t" l="l"/>
            <a:pathLst>
              <a:path h="10766258" w="10916358">
                <a:moveTo>
                  <a:pt x="0" y="0"/>
                </a:moveTo>
                <a:lnTo>
                  <a:pt x="10916357" y="0"/>
                </a:lnTo>
                <a:lnTo>
                  <a:pt x="10916357" y="10766257"/>
                </a:lnTo>
                <a:lnTo>
                  <a:pt x="0" y="107662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DAHQJT_s_AA</dc:identifier>
  <dcterms:modified xsi:type="dcterms:W3CDTF">2011-08-01T06:04:30Z</dcterms:modified>
  <cp:revision>1</cp:revision>
  <dc:title>White and Peach Cute Hand Drawn Playful Group Project Presentation</dc:title>
</cp:coreProperties>
</file>